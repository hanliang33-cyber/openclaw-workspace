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国企四体协同管理数字化解决方案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371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数智化穿透监管下的体系构建与实践创新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2026年3月  |  亮哥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政策背景与监管趋势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54864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四体协同管理体系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97280"/>
            <a:ext cx="54864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核心框架与关键工具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256032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48840"/>
            <a:ext cx="54864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实践案例与成效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148840"/>
            <a:ext cx="256032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148840"/>
            <a:ext cx="54864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解决方案与服务内容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148840"/>
            <a:ext cx="256032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148840"/>
            <a:ext cx="54864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合作方式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政策背景与监管趋势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国资监管进入穿透式监管新时代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2015年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91440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探索建立一体化管理平台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2019年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78308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以风险为导向、内控为核心、合规为重点、法律为保障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97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65176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《中央企业合规管理办法》要求建立协调运作机制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52044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《穿透式监管指导意见》标志进入体系化落地阶段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E74C3C">
              <a:alpha val="8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2026年：穿透式监管全面强制推行，四全特征覆盖全级次/全链条/全过程/全要素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穿透式监管的核心本质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全级次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91440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打破层级壁垒，覆盖集团-子公司-孙公司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78308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覆盖上下游产业链，不留监管死角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97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全过程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65176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事前-事中-事后全流程追踪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全要素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52044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投资、财务、采购等十大重点领域全覆盖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E74C3C">
              <a:alpha val="8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本质：标准穿透而非权力穿透、信息穿透而非决策穿透，目标：放得活、管得住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四体协同管理体系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四体协同的差异化定位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2743200"/>
          </a:xfrm>
          <a:prstGeom prst="rect">
            <a:avLst/>
          </a:prstGeom>
          <a:solidFill>
            <a:srgbClr val="F5F7FA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全面风险管理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聚焦：战略层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562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职能：风险识别、评估、应对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目标：识大势、防大险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2011680" cy="2743200"/>
          </a:xfrm>
          <a:prstGeom prst="rect">
            <a:avLst/>
          </a:prstGeom>
          <a:solidFill>
            <a:srgbClr val="F5F7FA"/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960120"/>
            <a:ext cx="2011680" cy="41148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内部控制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490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3B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聚焦：运营层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8562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职能：不相容职责分离、权限指引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目标：建机制、管日常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2011680" cy="2743200"/>
          </a:xfrm>
          <a:prstGeom prst="rect">
            <a:avLst/>
          </a:prstGeom>
          <a:solidFill>
            <a:srgbClr val="F5F7FA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960120"/>
            <a:ext cx="2011680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490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8F0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聚焦：监管层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8562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职能：外规内化、合规审查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目标：守底线、不越界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960120"/>
            <a:ext cx="2011680" cy="2743200"/>
          </a:xfrm>
          <a:prstGeom prst="rect">
            <a:avLst/>
          </a:prstGeom>
          <a:solidFill>
            <a:srgbClr val="F5F7FA"/>
          </a:solidFill>
          <a:ln w="19050">
            <a:solidFill>
              <a:srgbClr val="C73E1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960120"/>
            <a:ext cx="2011680" cy="41148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法务管理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1490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3E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聚焦：权益层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0" y="18562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职能：合同、案件、知识产权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目标：护权益、防纠纷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四体协同的核心逻辑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目标统一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91440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以风险管控为核心，形成有机整体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流程贯通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78308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从分散运行向一体化管理转变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97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数据共享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65176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信息互通，打破信息孤岛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责任共担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52044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实现1+1+1+1&gt;4的治理效能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E74C3C">
              <a:alpha val="8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最终目标：风险可控、合规有序、经营高效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核心框架与关键工具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12345风控组织体系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9601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第一责任人（董事长/总经理）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1600200"/>
            <a:ext cx="68580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099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70992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母子公司两级管控机制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2350008"/>
            <a:ext cx="68580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5973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88720" y="2459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三道防线：业务部门 → 合规风险部门 → 审计纪检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3099816"/>
            <a:ext cx="68580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954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320954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四类人员：分管领导、风控负责人、专职人员、兼职人员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3849624"/>
            <a:ext cx="68580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5935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95935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五级风险管理主体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三大核心管理工具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1124712"/>
            <a:ext cx="402336" cy="40233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490472" y="1124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风险识别清单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103120"/>
            <a:ext cx="24323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统一风险描述与分级标准，涵盖战略、财务、运营、合规四大类风险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124712"/>
            <a:ext cx="402336" cy="40233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124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64592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流程管控清单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2103120"/>
            <a:ext cx="24323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明确各节点合规风控审核要求，嵌入核心业务流程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51192" y="1124712"/>
            <a:ext cx="402336" cy="40233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7251192" y="1124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164592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重点岗位清单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2103120"/>
            <a:ext cx="24323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明确岗位职责与风控要求，建立追责问责机制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关键运行机制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五同步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91440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制度修订时同步更新管理流程、信息化流程、风险管理、内控手册、合规手册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一岗式审查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78308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整合法律、风险、内控要求，一次流程实现多重防控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97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外规内化四步法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65176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解读外规 → 制定政策 → 细化风险 → 融入业务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5544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PDCA闭环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52044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目标设定 → 风险识别评估 → 应对 → 监控预警 → 评价 → 监督改进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E74C3C">
              <a:alpha val="8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十大运行机制：风险识别评估、审查管控、预警应对、报告、监督检查、问题整改、追责问责、有效性评价、风险文化、信息化建设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实践案例与成效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标杆企业实践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160020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40233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东方锅炉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12848" y="86868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1110风险防控体系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344168"/>
            <a:ext cx="38039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构建12345组织体系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672项业务流程线上管控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大数据风险预警模型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023360" cy="160020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68680"/>
            <a:ext cx="40233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686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北投集团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86868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一手册+两汇编模式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1344168"/>
            <a:ext cx="38039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116项制度专项评审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五同步更新机制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一体化风险控制矩阵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4023360" cy="160020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33472"/>
            <a:ext cx="40233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3347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中国石化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12848" y="263347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五位一体法治格局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3108960"/>
            <a:ext cx="38039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合规为伞架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风险为伞面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内控为伞把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信息化为按钮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633472"/>
            <a:ext cx="4023360" cy="160020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633472"/>
            <a:ext cx="40233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63347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中国建材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12848" y="263347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协同监管+信息化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3108960"/>
            <a:ext cx="38039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三级垂直化监管链条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统一信息化平台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实时监控全覆盖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解决方案与服务内容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我们的解决方案架构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1280160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9611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896112"/>
            <a:ext cx="6858000" cy="73152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896112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风险预警大屏 | 合规审查系统 | 内控管理系统 | 法务管理平台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00784"/>
            <a:ext cx="1280160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00784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700784"/>
            <a:ext cx="6858000" cy="73152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700784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四体协同管理平台 | 统一工作流引擎 | 智能分析引擎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1280160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0545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505456"/>
            <a:ext cx="6858000" cy="73152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505456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企业风险数据库 | 法规政策库 | 案例知识库 | 指标体系库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1280160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10128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基础设施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3310128"/>
            <a:ext cx="6858000" cy="731520"/>
          </a:xfrm>
          <a:prstGeom prst="rect">
            <a:avLst/>
          </a:prstGeom>
          <a:solidFill>
            <a:srgbClr val="F5F7F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3310128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 | 混合云架构 | 等保三级认证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服务内容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43891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体系建设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四体管理现状诊断、差距分析、体系规划设计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60120"/>
            <a:ext cx="2651760" cy="43891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9601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平台搭建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协同管理平台开发、流程配置、系统集成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60120"/>
            <a:ext cx="2651760" cy="43891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601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第三阶段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落地运营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人员培训、试运行、持续优化、效果评估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合作方式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合作方式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14984"/>
            <a:ext cx="137160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149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服务模式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96012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定制化开发 + 长期运维 + 持续优化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1508760"/>
            <a:ext cx="676656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29384"/>
            <a:ext cx="137160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9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部署方式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187452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私有化部署，支持信创环境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2423160"/>
            <a:ext cx="676656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43784"/>
            <a:ext cx="137160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437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合作周期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278892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体系建设3-6个月，持续运维服务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3337560"/>
            <a:ext cx="676656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758184"/>
            <a:ext cx="137160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581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成功保障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370332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专业团队全程服务，行业专家顾问支持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4A90D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4A90D9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0" y="265176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期待与贵司携手共创合规管理新范式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青岛大数据科技公司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国企四体协同管理数字化解决方案</dc:title>
  <dc:subject>数智化穿透监管下的体系构建与实践创新</dc:subject>
  <dc:creator>青岛大数据科技公司</dc:creator>
  <cp:lastModifiedBy>青岛大数据科技公司</cp:lastModifiedBy>
  <cp:revision>1</cp:revision>
  <dcterms:created xsi:type="dcterms:W3CDTF">2026-03-25T14:31:30Z</dcterms:created>
  <dcterms:modified xsi:type="dcterms:W3CDTF">2026-03-25T14:31:30Z</dcterms:modified>
</cp:coreProperties>
</file>