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-182880"/>
            <a:ext cx="2560320" cy="256032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88720"/>
            <a:ext cx="1645920" cy="320040"/>
          </a:xfrm>
          <a:prstGeom prst="roundRect">
            <a:avLst>
              <a:gd name="adj" fmla="val 15873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21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PROFESSIONAL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国企四体协同管理数字化解决方案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数智化穿透监管下的体系构建与实践创新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22860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2026年3月  |  亮哥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青岛大数据科技公司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94760" y="8046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政策背景与监管趋势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94760" y="1325880"/>
            <a:ext cx="484632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69164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6276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四体协同管理体系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94760" y="2148840"/>
            <a:ext cx="484632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251460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4505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核心框架与关键工具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94760" y="2971800"/>
            <a:ext cx="484632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333756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2735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实践案例与成效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94760" y="3794760"/>
            <a:ext cx="484632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416052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40965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解决方案与服务内容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794760" y="4617720"/>
            <a:ext cx="484632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498348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94760" y="49194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合作方式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政策背景与监管趋势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200400" cy="50932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POLICY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国资监管进入穿透式监管新时代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3474720"/>
            <a:ext cx="1645920" cy="164592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50292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502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2015年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457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探索建立一体化管理平台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2019年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以风险为导向、内控为核心、合规为重点、法律为保障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60604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6060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中央企业合规管理办法要求建立协调运作机制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657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穿透式监管指导意见标志进入体系化落地阶段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4343400"/>
            <a:ext cx="5212080" cy="502920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四全特征：全级次/全链条/全过程/全要素，覆盖十大领域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200400" cy="50932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穿透式监管的本质与目标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3474720"/>
            <a:ext cx="1645920" cy="164592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50292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502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457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标准穿透而非权力穿透，信息穿透而非决策穿透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实现放得活管得住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60604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6060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全级次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打破层级壁垒，覆盖集团-子公司-孙公司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657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覆盖上下游产业链，不留监管死角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4343400"/>
            <a:ext cx="5212080" cy="502920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本质：标准穿透而非权力穿透，信息穿透而非决策穿透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四体协同管理体系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四体协同的差异化定位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全面风险管理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聚焦战略层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风险识别、评估、应对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目标：识大势防大险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109728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463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内部控制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96596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聚焦运营层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不相容职责分离、权限指引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目标：建机制管日常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00400"/>
            <a:ext cx="109728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合规管理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388620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聚焦监管层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外规内化、合规审查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目标：守底线不越界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200400"/>
            <a:ext cx="109728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0" y="33832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法务管理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388620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聚焦权益层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297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合同、案件、知识产权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目标：护权益防纠纷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200400" cy="50932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SYNERGY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四体协同的核心逻辑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3474720"/>
            <a:ext cx="1645920" cy="164592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50292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502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目标统一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457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以风险管控为核心，形成有机整体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流程贯通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从分散运行向一体化管理转变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60604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6060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数据共享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信息互通，打破信息孤岛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657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责任共担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实现1+1+1+1&gt;4的治理效能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4343400"/>
            <a:ext cx="5212080" cy="502920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最终目标：风险可控、合规有序、经营高效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核心框架与关键工具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12345风控组织体系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16459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第一责任人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董事长/总经理挂帅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承担主体责任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109728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4630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两级管控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96596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母子公司两级管控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垂直管理穿透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10972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三道防线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业务部门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297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合规风险部门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审计纪检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20040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200400"/>
            <a:ext cx="109728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0" y="3383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四类人员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0" y="388620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分管领导、风控负责人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4297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专职人员、兼职人员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200400" cy="50932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TOOLS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三大核心管理工具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3474720"/>
            <a:ext cx="1645920" cy="164592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50292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502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风险识别清单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457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统一风险描述与分级标准，涵盖战略、财务、运营、合规四大类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流程管控清单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明确各节点合规风控审核要求，嵌入核心业务流程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60604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6060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重点岗位清单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明确岗位职责与风控要求，建立追责问责机制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4343400"/>
            <a:ext cx="5212080" cy="502920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配套机制：五同步、一岗式审查、外规内化四步法、PDCA闭环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实施路线图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731520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261518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2706624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第1-2月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现状诊断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体系规划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9648" y="261518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3371088" y="2706624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1272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1272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第3-5月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12720" y="31089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制度梳理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流程优化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5168" y="261518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26608" y="2706624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6824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824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第6月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8240" y="31089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平台搭建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上线运行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90688" y="261518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7882128" y="2706624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持续运营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31089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培训支持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迭代优化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实践案例与成效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标杆企业实践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914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核心做法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东方锅炉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325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1110风险防控体系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325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构建12345组织体系、672项业务流程线上管控、大数据风险预警模型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48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北投集团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148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一手册+两汇编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148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116项制度专项评审、五同步更新机制、一体化风险控制矩阵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71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中国石化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五位一体法治格局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971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合规为伞架、风险为伞面、内控为伞把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94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中国建材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3794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协同监管+信息化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794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三级垂直化监管链条、统一信息化平台实时监控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数字化管理效能提升（参考值）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-960120" y="1097280"/>
            <a:ext cx="2560320" cy="201168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85800" y="109728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-96012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-777240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流程审批效率提升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097280"/>
            <a:ext cx="2560320" cy="201168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09728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057400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风险识别时效提升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2560320" cy="201168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109728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92040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合规检查覆盖率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1097280"/>
            <a:ext cx="2560320" cy="201168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109728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3x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726680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问题响应速度提升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数据来源：标杆企业实施后平均值，实际效果因企业规模和管理基础不同而有差异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解决方案与服务内容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我们的解决方案架构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88720" cy="7040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188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914400"/>
            <a:ext cx="7498080" cy="704088"/>
          </a:xfrm>
          <a:prstGeom prst="roundRect">
            <a:avLst>
              <a:gd name="adj" fmla="val 721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914400"/>
            <a:ext cx="7315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风险预警大屏 | 合规审查系统 | 内控管理系统 | 法务管理平台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88720" cy="70408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88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1691640"/>
            <a:ext cx="7498080" cy="704088"/>
          </a:xfrm>
          <a:prstGeom prst="roundRect">
            <a:avLst>
              <a:gd name="adj" fmla="val 721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691640"/>
            <a:ext cx="7315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四体协同管理平台 | 统一工作流引擎 | 智能分析引擎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188720" cy="70408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1188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2468880"/>
            <a:ext cx="7498080" cy="704088"/>
          </a:xfrm>
          <a:prstGeom prst="roundRect">
            <a:avLst>
              <a:gd name="adj" fmla="val 721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468880"/>
            <a:ext cx="7315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企业风险数据库 | 法规政策库 | 案例知识库 | 指标体系库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188720" cy="70408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46120"/>
            <a:ext cx="1188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基础设施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37360" y="3246120"/>
            <a:ext cx="7498080" cy="704088"/>
          </a:xfrm>
          <a:prstGeom prst="roundRect">
            <a:avLst>
              <a:gd name="adj" fmla="val 721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246120"/>
            <a:ext cx="7315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 | 混合云架构 | 等保三级认证 | 信创支持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33272" y="1618488"/>
            <a:ext cx="36576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3272" y="2395728"/>
            <a:ext cx="36576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3272" y="3172968"/>
            <a:ext cx="36576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三阶段服务内容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3291840"/>
          </a:xfrm>
          <a:prstGeom prst="roundRect">
            <a:avLst>
              <a:gd name="adj" fmla="val 38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体系建设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四体管理现状诊断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差距分析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体系规划设计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制度流程梳理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291840"/>
          </a:xfrm>
          <a:prstGeom prst="roundRect">
            <a:avLst>
              <a:gd name="adj" fmla="val 38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平台搭建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协同管理平台开发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流程配置与嵌入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系统集成与对接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数据迁移与清洗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3291840"/>
          </a:xfrm>
          <a:prstGeom prst="roundRect">
            <a:avLst>
              <a:gd name="adj" fmla="val 38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05840"/>
            <a:ext cx="26517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落地运营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5146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人员培训与认证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试运行与调整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持续优化迭代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效果评估报告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合作方式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为什么选择我们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专业团队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行业专家顾问支持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资深项目经理带队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复合型实施团队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109728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4630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成熟方法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96596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自有方法论体系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标杆企业实践经验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快速落地保障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00400"/>
            <a:ext cx="109728" cy="1645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技术领先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388620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自主研发平台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AI+大数据能力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信创环境适配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3931920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20040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0" y="33832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长期服务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3886200"/>
            <a:ext cx="347472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持续运维支持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297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定期效果评估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不断迭代优化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200400" cy="50932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合作方式与联系方式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3474720"/>
            <a:ext cx="1645920" cy="164592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50292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502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服务模式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457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定制化开发 + 长期运维 + 持续优化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部署方式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私有化部署，支持信创环境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60604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6060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合作周期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体系建设3-6个月，持续运维服务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1188720" cy="347472"/>
          </a:xfrm>
          <a:prstGeom prst="roundRect">
            <a:avLst>
              <a:gd name="adj" fmla="val 1462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657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联系信息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期待与贵司携手共创合规管理新范式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2286000"/>
            <a:ext cx="4572000" cy="45720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2743200"/>
            <a:ext cx="3200400" cy="32004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期待与贵司携手共创合规管理新范式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青岛大数据科技公司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国企四体协同管理数字化解决方案</dc:title>
  <dc:subject>PptxGenJS Presentation</dc:subject>
  <dc:creator>青岛大数据科技公司</dc:creator>
  <cp:lastModifiedBy>青岛大数据科技公司</cp:lastModifiedBy>
  <cp:revision>1</cp:revision>
  <dcterms:created xsi:type="dcterms:W3CDTF">2026-03-25T15:23:18Z</dcterms:created>
  <dcterms:modified xsi:type="dcterms:W3CDTF">2026-03-25T15:23:18Z</dcterms:modified>
</cp:coreProperties>
</file>